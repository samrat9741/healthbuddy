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1" r:id="rId5"/>
    <p:sldId id="259" r:id="rId6"/>
    <p:sldId id="260" r:id="rId7"/>
    <p:sldId id="261" r:id="rId8"/>
    <p:sldId id="264" r:id="rId9"/>
    <p:sldId id="263"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4392E-E5DA-AF76-360D-703AA3D66F52}" v="120" dt="2025-12-20T15:28:15.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DE50A-4FC7-4046-94BA-013BF0DC6B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F8D483-B3BD-4741-9D6A-9620445A6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3DE514-E02E-4456-89CA-A5103FB2B830}"/>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415769B9-C535-43C8-B173-F393CC1D6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A4B5D-F69B-4481-A28E-34E61419E73A}"/>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202170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0EFB-1B4E-4F9F-A06F-C8F65FA764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E9DF2-A4FE-41C9-87B7-10282785D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1B33B-2501-4FC5-8852-839040C0DE61}"/>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BAF23D60-474C-416E-BB4A-A36273EC87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DB576-BD18-4AD0-97AC-9200A5C1A201}"/>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14151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59C40-34AC-400E-8C56-2FB2EC2B37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7BA5E2-24A9-40FD-8BCC-5EE3440B8A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B9DAC8-66A4-4607-94CD-38918E39C82C}"/>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F7AE99B3-76A9-4BEA-AAF3-3483654DF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0B475F-B987-4DE5-B75D-C115DBA4695B}"/>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1405800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58019-8C90-4B06-A367-11872D3BF9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51E116-3768-4785-85C9-D8DF74F12B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6F8925-4DE2-45A4-98E0-A95AC30F1A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9C03E3-F017-4F1E-A7D1-8FD6DA9B6679}"/>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6" name="Footer Placeholder 5">
            <a:extLst>
              <a:ext uri="{FF2B5EF4-FFF2-40B4-BE49-F238E27FC236}">
                <a16:creationId xmlns:a16="http://schemas.microsoft.com/office/drawing/2014/main" id="{A4020617-9374-421E-8B82-2C80011640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396094-A8B0-40E6-9C59-EE9A999ACC77}"/>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3217729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BEA0-55B9-4592-B24A-E586D7CAEB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FAE7C4-6C21-4901-8D23-E0127B73C2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F91C3D-2A07-4881-8FC1-1E03893E90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AB68A8-06CB-486B-AC11-F758BDEAE3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36B559-6448-4D83-ADE5-096976ADD2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285478-8276-42DA-B0DF-44CE449D7513}"/>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8" name="Footer Placeholder 7">
            <a:extLst>
              <a:ext uri="{FF2B5EF4-FFF2-40B4-BE49-F238E27FC236}">
                <a16:creationId xmlns:a16="http://schemas.microsoft.com/office/drawing/2014/main" id="{D2F68D81-E9CE-493F-AE7C-B76BD15844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77D1CD-C8BE-4BBF-9123-3BF1C23E2339}"/>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203044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466F6-159B-412B-B8C8-7D0E293991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9F1214-9260-4DFB-9C6F-C179D0356D1D}"/>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4" name="Footer Placeholder 3">
            <a:extLst>
              <a:ext uri="{FF2B5EF4-FFF2-40B4-BE49-F238E27FC236}">
                <a16:creationId xmlns:a16="http://schemas.microsoft.com/office/drawing/2014/main" id="{EF6A4ADC-7C8E-4D79-BEA4-1E2C278654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3375C7-D130-47E8-80CA-BF4A746DE109}"/>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54142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C497C6-07DD-4643-90CF-33A4FC1DC2E5}"/>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3" name="Footer Placeholder 2">
            <a:extLst>
              <a:ext uri="{FF2B5EF4-FFF2-40B4-BE49-F238E27FC236}">
                <a16:creationId xmlns:a16="http://schemas.microsoft.com/office/drawing/2014/main" id="{65C1E92C-05D5-4794-BCDA-56862D16DA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6418DF-97A5-4F42-AF0C-DD205F8FA202}"/>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163212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660E-3FDF-4702-B439-3D2675038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182009-F224-4F24-B79B-532E3FB45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8CBD41-9B0D-4944-A964-F03F82BEB4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526569-E386-42C5-B2FD-02830D566278}"/>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6" name="Footer Placeholder 5">
            <a:extLst>
              <a:ext uri="{FF2B5EF4-FFF2-40B4-BE49-F238E27FC236}">
                <a16:creationId xmlns:a16="http://schemas.microsoft.com/office/drawing/2014/main" id="{F757CD94-B292-41DC-ADD1-E3D51E9BA4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2FAB13-EA25-493F-9BFE-93B6CE96E89E}"/>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382620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454D-A48F-4440-AC8B-EF04518B4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3245A7-3E0B-40B8-A264-1CAF74209E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96621C-B2E2-49FF-B265-AB4C5F2D0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11CB3-B43E-46D8-B162-6D0FC5BB1766}"/>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6" name="Footer Placeholder 5">
            <a:extLst>
              <a:ext uri="{FF2B5EF4-FFF2-40B4-BE49-F238E27FC236}">
                <a16:creationId xmlns:a16="http://schemas.microsoft.com/office/drawing/2014/main" id="{03EDDA51-A4BA-4621-BB1A-0DB0B3D6F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D9F481-A545-4DCE-BD4F-431A0509B68C}"/>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3693739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83BC7-3D4F-4024-89C6-E3D27BA28E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943D4D-E984-4815-BA42-6A9F1E98C2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FDB1D-7979-48C4-8203-1DF3E08931E6}"/>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0E26D8F0-0D04-43DD-9AE6-9555336EA7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43EA16-D24A-4D5B-A032-352BE87A1B99}"/>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1222197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14553-EDE9-4513-A095-135F2549E5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119D77-43C3-42F1-A156-5597758E19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F61D21-8D84-41B1-9D0C-0B5ED49A7C56}"/>
              </a:ext>
            </a:extLst>
          </p:cNvPr>
          <p:cNvSpPr>
            <a:spLocks noGrp="1"/>
          </p:cNvSpPr>
          <p:nvPr>
            <p:ph type="dt" sz="half" idx="10"/>
          </p:nvPr>
        </p:nvSpPr>
        <p:spPr/>
        <p:txBody>
          <a:body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F9A84520-B7FA-47CA-BE3B-FE2746E0A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18B32-9F7A-467B-9027-641F9F021FFF}"/>
              </a:ext>
            </a:extLst>
          </p:cNvPr>
          <p:cNvSpPr>
            <a:spLocks noGrp="1"/>
          </p:cNvSpPr>
          <p:nvPr>
            <p:ph type="sldNum" sz="quarter" idx="12"/>
          </p:nvPr>
        </p:nvSpPr>
        <p:spPr/>
        <p:txBody>
          <a:bodyPr/>
          <a:lstStyle/>
          <a:p>
            <a:fld id="{01DD8DA8-3CB1-4E4B-A551-35C46EAC68CC}" type="slidenum">
              <a:rPr lang="en-US" smtClean="0"/>
              <a:t>‹#›</a:t>
            </a:fld>
            <a:endParaRPr lang="en-US"/>
          </a:p>
        </p:txBody>
      </p:sp>
    </p:spTree>
    <p:extLst>
      <p:ext uri="{BB962C8B-B14F-4D97-AF65-F5344CB8AC3E}">
        <p14:creationId xmlns:p14="http://schemas.microsoft.com/office/powerpoint/2010/main" val="267447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E5B23E-6933-46DF-B30C-14CF7A869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DAABE1-237C-450A-8698-0F45FD3791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EB35CE-1C58-420F-B936-2F74FFDA3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B728B-4051-436D-A758-287752A9811B}" type="datetimeFigureOut">
              <a:rPr lang="en-US" smtClean="0"/>
              <a:t>12/20/2025</a:t>
            </a:fld>
            <a:endParaRPr lang="en-US"/>
          </a:p>
        </p:txBody>
      </p:sp>
      <p:sp>
        <p:nvSpPr>
          <p:cNvPr id="5" name="Footer Placeholder 4">
            <a:extLst>
              <a:ext uri="{FF2B5EF4-FFF2-40B4-BE49-F238E27FC236}">
                <a16:creationId xmlns:a16="http://schemas.microsoft.com/office/drawing/2014/main" id="{3AC08AD1-2320-4BF5-97EB-D02F94F9D0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DF126A-F4CC-4A07-8E61-7CD742E01B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DD8DA8-3CB1-4E4B-A551-35C46EAC68CC}" type="slidenum">
              <a:rPr lang="en-US" smtClean="0"/>
              <a:t>‹#›</a:t>
            </a:fld>
            <a:endParaRPr lang="en-US"/>
          </a:p>
        </p:txBody>
      </p:sp>
    </p:spTree>
    <p:extLst>
      <p:ext uri="{BB962C8B-B14F-4D97-AF65-F5344CB8AC3E}">
        <p14:creationId xmlns:p14="http://schemas.microsoft.com/office/powerpoint/2010/main" val="1680692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B5B83-6912-43ED-9E9F-DDF96167A344}"/>
              </a:ext>
            </a:extLst>
          </p:cNvPr>
          <p:cNvSpPr>
            <a:spLocks noGrp="1"/>
          </p:cNvSpPr>
          <p:nvPr>
            <p:ph type="ctrTitle"/>
          </p:nvPr>
        </p:nvSpPr>
        <p:spPr>
          <a:xfrm>
            <a:off x="1524000" y="206277"/>
            <a:ext cx="9144000" cy="1524000"/>
          </a:xfrm>
        </p:spPr>
        <p:txBody>
          <a:bodyPr>
            <a:normAutofit/>
          </a:bodyPr>
          <a:lstStyle/>
          <a:p>
            <a:r>
              <a:rPr lang="en-US" sz="4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HealthBuddy</a:t>
            </a:r>
            <a:endPar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C2A916D-BCBE-4D4D-8461-48234D191B7A}"/>
              </a:ext>
            </a:extLst>
          </p:cNvPr>
          <p:cNvSpPr>
            <a:spLocks noGrp="1"/>
          </p:cNvSpPr>
          <p:nvPr>
            <p:ph type="subTitle" idx="1"/>
          </p:nvPr>
        </p:nvSpPr>
        <p:spPr>
          <a:xfrm>
            <a:off x="1524000" y="3581399"/>
            <a:ext cx="4140200" cy="2319867"/>
          </a:xfrm>
        </p:spPr>
        <p:txBody>
          <a:bodyPr>
            <a:normAutofit/>
          </a:bodyPr>
          <a:lstStyle/>
          <a:p>
            <a:pPr algn="l"/>
            <a:r>
              <a:rPr lang="en-US" b="1" u="sng" dirty="0">
                <a:latin typeface="Times New Roman" panose="02020603050405020304" pitchFamily="18" charset="0"/>
                <a:cs typeface="Times New Roman" panose="02020603050405020304" pitchFamily="18" charset="0"/>
              </a:rPr>
              <a:t>submitted by:</a:t>
            </a:r>
          </a:p>
          <a:p>
            <a:pPr algn="l"/>
            <a:r>
              <a:rPr lang="en-US" sz="2000" dirty="0">
                <a:latin typeface="Times New Roman" panose="02020603050405020304" pitchFamily="18" charset="0"/>
                <a:cs typeface="Times New Roman" panose="02020603050405020304" pitchFamily="18" charset="0"/>
              </a:rPr>
              <a:t>Samrat Shrestha</a:t>
            </a:r>
          </a:p>
        </p:txBody>
      </p:sp>
      <p:sp>
        <p:nvSpPr>
          <p:cNvPr id="5" name="TextBox 4">
            <a:extLst>
              <a:ext uri="{FF2B5EF4-FFF2-40B4-BE49-F238E27FC236}">
                <a16:creationId xmlns:a16="http://schemas.microsoft.com/office/drawing/2014/main" id="{529F9B13-309E-45D7-993F-FD52D1738485}"/>
              </a:ext>
            </a:extLst>
          </p:cNvPr>
          <p:cNvSpPr txBox="1"/>
          <p:nvPr/>
        </p:nvSpPr>
        <p:spPr>
          <a:xfrm>
            <a:off x="6096000" y="3581399"/>
            <a:ext cx="5816600" cy="2308324"/>
          </a:xfrm>
          <a:prstGeom prst="rect">
            <a:avLst/>
          </a:prstGeom>
          <a:noFill/>
        </p:spPr>
        <p:txBody>
          <a:bodyPr wrap="square" rtlCol="0">
            <a:spAutoFit/>
          </a:bodyPr>
          <a:lstStyle/>
          <a:p>
            <a:r>
              <a:rPr lang="en-US" sz="2400" b="1" u="sng">
                <a:latin typeface="Times New Roman" panose="02020603050405020304" pitchFamily="18" charset="0"/>
                <a:cs typeface="Times New Roman" panose="02020603050405020304" pitchFamily="18" charset="0"/>
              </a:rPr>
              <a:t>Submitted To:</a:t>
            </a:r>
          </a:p>
          <a:p>
            <a:r>
              <a:rPr lang="en-US" sz="2000">
                <a:latin typeface="Times New Roman" panose="02020603050405020304" pitchFamily="18" charset="0"/>
                <a:cs typeface="Times New Roman" panose="02020603050405020304" pitchFamily="18" charset="0"/>
              </a:rPr>
              <a:t>Department of Computer Science and Multimedia </a:t>
            </a:r>
          </a:p>
          <a:p>
            <a:r>
              <a:rPr lang="en-US" sz="2000">
                <a:latin typeface="Times New Roman" panose="02020603050405020304" pitchFamily="18" charset="0"/>
                <a:cs typeface="Times New Roman" panose="02020603050405020304" pitchFamily="18" charset="0"/>
              </a:rPr>
              <a:t>National College of Management and Technical Science</a:t>
            </a:r>
          </a:p>
          <a:p>
            <a:r>
              <a:rPr lang="en-US" sz="2000" b="1">
                <a:latin typeface="Times New Roman" panose="02020603050405020304" pitchFamily="18" charset="0"/>
                <a:cs typeface="Times New Roman" panose="02020603050405020304" pitchFamily="18" charset="0"/>
              </a:rPr>
              <a:t>Address: </a:t>
            </a:r>
            <a:r>
              <a:rPr lang="en-US" sz="2000" err="1">
                <a:latin typeface="Times New Roman" panose="02020603050405020304" pitchFamily="18" charset="0"/>
                <a:cs typeface="Times New Roman" panose="02020603050405020304" pitchFamily="18" charset="0"/>
              </a:rPr>
              <a:t>Samakhusi</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rPr>
              <a:t>Ranibari</a:t>
            </a:r>
            <a:r>
              <a:rPr lang="en-US" sz="2000">
                <a:latin typeface="Times New Roman" panose="02020603050405020304" pitchFamily="18" charset="0"/>
                <a:cs typeface="Times New Roman" panose="02020603050405020304" pitchFamily="18" charset="0"/>
              </a:rPr>
              <a:t> Marg Kathmandu, Nepal</a:t>
            </a:r>
          </a:p>
          <a:p>
            <a:r>
              <a:rPr lang="en-US" sz="2000" b="1">
                <a:latin typeface="Times New Roman" panose="02020603050405020304" pitchFamily="18" charset="0"/>
                <a:cs typeface="Times New Roman" panose="02020603050405020304" pitchFamily="18" charset="0"/>
              </a:rPr>
              <a:t>Date: </a:t>
            </a:r>
            <a:r>
              <a:rPr lang="en-US" sz="2000">
                <a:latin typeface="Times New Roman" panose="02020603050405020304" pitchFamily="18" charset="0"/>
                <a:cs typeface="Times New Roman" panose="02020603050405020304" pitchFamily="18" charset="0"/>
              </a:rPr>
              <a:t>August 26, 2025</a:t>
            </a:r>
          </a:p>
        </p:txBody>
      </p:sp>
    </p:spTree>
    <p:extLst>
      <p:ext uri="{BB962C8B-B14F-4D97-AF65-F5344CB8AC3E}">
        <p14:creationId xmlns:p14="http://schemas.microsoft.com/office/powerpoint/2010/main" val="3817208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1AEE1-11F3-4390-AB78-91D2EB3B0183}"/>
              </a:ext>
            </a:extLst>
          </p:cNvPr>
          <p:cNvSpPr>
            <a:spLocks noGrp="1"/>
          </p:cNvSpPr>
          <p:nvPr>
            <p:ph type="title"/>
          </p:nvPr>
        </p:nvSpPr>
        <p:spPr>
          <a:xfrm>
            <a:off x="838200" y="729191"/>
            <a:ext cx="10515600" cy="1325563"/>
          </a:xfrm>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7" name="Rectangle 2">
            <a:extLst>
              <a:ext uri="{FF2B5EF4-FFF2-40B4-BE49-F238E27FC236}">
                <a16:creationId xmlns:a16="http://schemas.microsoft.com/office/drawing/2014/main" id="{DB0925C2-EB3F-0863-FF87-7607773FF20E}"/>
              </a:ext>
            </a:extLst>
          </p:cNvPr>
          <p:cNvSpPr>
            <a:spLocks noGrp="1" noChangeArrowheads="1"/>
          </p:cNvSpPr>
          <p:nvPr>
            <p:ph idx="1"/>
          </p:nvPr>
        </p:nvSpPr>
        <p:spPr bwMode="auto">
          <a:xfrm>
            <a:off x="838200" y="2724021"/>
            <a:ext cx="1040972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Buddy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project is an intelligent, backend-only AI agent designed to provide healthcare assistance, symptom analysis, and decision support.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Unlike traditional healthcare applications that rely on complex graphical interfaces, this system focuses on 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API-driven architecture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allows it to be seamlessly integrated into existing healthcare systems, developer workflows, or third-party applications without requiring a dedicated frontend.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751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6CC9-FCAD-4907-A2BC-6428F1032E66}"/>
              </a:ext>
            </a:extLst>
          </p:cNvPr>
          <p:cNvSpPr>
            <a:spLocks noGrp="1"/>
          </p:cNvSpPr>
          <p:nvPr>
            <p:ph type="title"/>
          </p:nvPr>
        </p:nvSpPr>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Problem &amp; Solution</a:t>
            </a:r>
          </a:p>
        </p:txBody>
      </p:sp>
      <p:sp>
        <p:nvSpPr>
          <p:cNvPr id="3" name="Content Placeholder 2">
            <a:extLst>
              <a:ext uri="{FF2B5EF4-FFF2-40B4-BE49-F238E27FC236}">
                <a16:creationId xmlns:a16="http://schemas.microsoft.com/office/drawing/2014/main" id="{8CA3DD76-8BB2-41FC-B7D7-B2E88536CD54}"/>
              </a:ext>
            </a:extLst>
          </p:cNvPr>
          <p:cNvSpPr>
            <a:spLocks noGrp="1"/>
          </p:cNvSpPr>
          <p:nvPr>
            <p:ph idx="1"/>
          </p:nvPr>
        </p:nvSpPr>
        <p:spPr/>
        <p:txBody>
          <a:bodyPr>
            <a:normAutofit/>
          </a:bodyPr>
          <a:lstStyle/>
          <a:p>
            <a:pPr marL="0" indent="0">
              <a:buNone/>
            </a:pPr>
            <a:r>
              <a:rPr lang="en-US" sz="2400" b="1" u="sng" dirty="0">
                <a:latin typeface="Times New Roman" panose="02020603050405020304" pitchFamily="18" charset="0"/>
                <a:cs typeface="Times New Roman" panose="02020603050405020304" pitchFamily="18" charset="0"/>
              </a:rPr>
              <a:t>Problem:</a:t>
            </a:r>
          </a:p>
          <a:p>
            <a:pPr marL="0" marR="0" indent="0" algn="just">
              <a:lnSpc>
                <a:spcPct val="115000"/>
              </a:lnSpc>
              <a:spcBef>
                <a:spcPts val="0"/>
              </a:spcBef>
              <a:spcAft>
                <a:spcPts val="0"/>
              </a:spcAft>
              <a:buNone/>
            </a:pPr>
            <a:r>
              <a:rPr lang="en-US" sz="2000" dirty="0">
                <a:latin typeface="Times New Roman" panose="02020603050405020304" pitchFamily="18" charset="0"/>
                <a:cs typeface="Times New Roman" panose="02020603050405020304" pitchFamily="18" charset="0"/>
              </a:rPr>
              <a:t>Many people lack easy access to basic healthcare guidance, and most existing systems depend heavily on complex frontends. There is a need for a backend-only AI system that can provide preliminary healthcare support through APIs.</a:t>
            </a:r>
          </a:p>
          <a:p>
            <a:pPr marL="0" indent="0">
              <a:buNone/>
            </a:pPr>
            <a:r>
              <a:rPr lang="en-US" sz="2400" b="1" u="sng" dirty="0">
                <a:latin typeface="Times New Roman" panose="02020603050405020304" pitchFamily="18" charset="0"/>
                <a:cs typeface="Times New Roman" panose="02020603050405020304" pitchFamily="18" charset="0"/>
              </a:rPr>
              <a:t>Solution:</a:t>
            </a:r>
          </a:p>
          <a:p>
            <a:pPr marL="0" indent="0">
              <a:buNone/>
            </a:pPr>
            <a:r>
              <a:rPr lang="en-US" sz="2000" dirty="0">
                <a:latin typeface="Times New Roman" panose="02020603050405020304" pitchFamily="18" charset="0"/>
                <a:cs typeface="Times New Roman" panose="02020603050405020304" pitchFamily="18" charset="0"/>
              </a:rPr>
              <a:t>A backend-only service that provides intelligence via secure APIs, allowing it to be integrated into any platform (mobile, web, or hospital systems) without a dedicated frontend.</a:t>
            </a:r>
            <a:endParaRPr lang="en-US" sz="2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915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0CC73-3C82-F2DB-5863-C52DDB67C038}"/>
              </a:ext>
            </a:extLst>
          </p:cNvPr>
          <p:cNvSpPr>
            <a:spLocks noGrp="1"/>
          </p:cNvSpPr>
          <p:nvPr>
            <p:ph type="title"/>
          </p:nvPr>
        </p:nvSpPr>
        <p:spPr/>
        <p:txBody>
          <a:bodyPr>
            <a:normAutofit/>
          </a:bodyPr>
          <a:lstStyle/>
          <a:p>
            <a:pPr algn="ctr"/>
            <a:r>
              <a:rPr lang="en-US" sz="4000" b="1">
                <a:latin typeface="Times New Roman"/>
                <a:ea typeface="Calibri Light"/>
                <a:cs typeface="Calibri Light"/>
              </a:rPr>
              <a:t>SCOPE OF THE PROJECT </a:t>
            </a:r>
          </a:p>
        </p:txBody>
      </p:sp>
      <p:sp>
        <p:nvSpPr>
          <p:cNvPr id="3" name="Content Placeholder 2">
            <a:extLst>
              <a:ext uri="{FF2B5EF4-FFF2-40B4-BE49-F238E27FC236}">
                <a16:creationId xmlns:a16="http://schemas.microsoft.com/office/drawing/2014/main" id="{2835AF5C-923C-5AC8-4D9E-4960661E36E1}"/>
              </a:ext>
            </a:extLst>
          </p:cNvPr>
          <p:cNvSpPr>
            <a:spLocks noGrp="1"/>
          </p:cNvSpPr>
          <p:nvPr>
            <p:ph idx="1"/>
          </p:nvPr>
        </p:nvSpPr>
        <p:spPr>
          <a:xfrm>
            <a:off x="0" y="1597106"/>
            <a:ext cx="11563350" cy="5260894"/>
          </a:xfrm>
        </p:spPr>
        <p:txBody>
          <a:bodyPr vert="horz" lIns="91440" tIns="45720" rIns="91440" bIns="45720" rtlCol="0" anchor="t">
            <a:noAutofit/>
          </a:bodyPr>
          <a:lstStyle/>
          <a:p>
            <a:pPr marL="0" indent="0">
              <a:buNone/>
            </a:pPr>
            <a:endParaRPr lang="en-US" dirty="0">
              <a:latin typeface="Times New Roman"/>
              <a:ea typeface="Calibri" panose="020F0502020204030204"/>
              <a:cs typeface="Calibri" panose="020F0502020204030204"/>
            </a:endParaRPr>
          </a:p>
          <a:p>
            <a:endParaRPr lang="en-US" sz="2000" dirty="0">
              <a:ea typeface="Calibri"/>
              <a:cs typeface="Calibri"/>
            </a:endParaRPr>
          </a:p>
          <a:p>
            <a:endParaRPr lang="en-US" sz="2000" dirty="0">
              <a:ea typeface="Calibri"/>
              <a:cs typeface="Calibri"/>
            </a:endParaRPr>
          </a:p>
          <a:p>
            <a:endParaRPr lang="en-US" dirty="0">
              <a:ea typeface="Calibri"/>
              <a:cs typeface="Calibri"/>
            </a:endParaRPr>
          </a:p>
        </p:txBody>
      </p:sp>
      <p:sp>
        <p:nvSpPr>
          <p:cNvPr id="7" name="Rectangle 3">
            <a:extLst>
              <a:ext uri="{FF2B5EF4-FFF2-40B4-BE49-F238E27FC236}">
                <a16:creationId xmlns:a16="http://schemas.microsoft.com/office/drawing/2014/main" id="{F0CEEB6E-C684-4A9E-A641-E9FCB961705A}"/>
              </a:ext>
            </a:extLst>
          </p:cNvPr>
          <p:cNvSpPr>
            <a:spLocks noChangeArrowheads="1"/>
          </p:cNvSpPr>
          <p:nvPr/>
        </p:nvSpPr>
        <p:spPr bwMode="auto">
          <a:xfrm>
            <a:off x="628650" y="1359280"/>
            <a:ext cx="109347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Development: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primary focus is on building the core engine and server-side logic.</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NLP Logic: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Implementation of decision-making logic using Natural Language Processing (NLP)techniques.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 Development: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Creating secure Application Programming Interfaces (APIs) to expose the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functionalities to other systems.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Processing: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Handling structured and unstructured inputs to generate intelligent health guidance.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Integration: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the architecture is modular and scalable for future third-party 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11422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9D91-5D73-4661-9BE8-6DDC36AFF42A}"/>
              </a:ext>
            </a:extLst>
          </p:cNvPr>
          <p:cNvSpPr>
            <a:spLocks noGrp="1"/>
          </p:cNvSpPr>
          <p:nvPr>
            <p:ph type="title"/>
          </p:nvPr>
        </p:nvSpPr>
        <p:spPr>
          <a:xfrm>
            <a:off x="838200" y="898525"/>
            <a:ext cx="10515600" cy="1325563"/>
          </a:xfrm>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a:t>
            </a:r>
          </a:p>
        </p:txBody>
      </p:sp>
      <p:sp>
        <p:nvSpPr>
          <p:cNvPr id="6" name="Content Placeholder 5">
            <a:extLst>
              <a:ext uri="{FF2B5EF4-FFF2-40B4-BE49-F238E27FC236}">
                <a16:creationId xmlns:a16="http://schemas.microsoft.com/office/drawing/2014/main" id="{13437165-EC08-8526-86D2-A55B96169FAB}"/>
              </a:ext>
            </a:extLst>
          </p:cNvPr>
          <p:cNvSpPr>
            <a:spLocks noGrp="1"/>
          </p:cNvSpPr>
          <p:nvPr>
            <p:ph idx="1"/>
          </p:nvPr>
        </p:nvSpPr>
        <p:spPr>
          <a:xfrm>
            <a:off x="514350" y="2073275"/>
            <a:ext cx="11182350" cy="4351338"/>
          </a:xfrm>
        </p:spPr>
        <p:txBody>
          <a:bodyPr>
            <a:normAutofit/>
          </a:bodyPr>
          <a:lstStyle/>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Design a Backend-only System</a:t>
            </a:r>
            <a:r>
              <a:rPr lang="en-US" altLang="en-US" sz="2000" dirty="0">
                <a:latin typeface="Times New Roman" panose="02020603050405020304" pitchFamily="18" charset="0"/>
                <a:cs typeface="Times New Roman" panose="02020603050405020304" pitchFamily="18" charset="0"/>
              </a:rPr>
              <a:t>: To create an AI agent that operates without any graphical user interface.</a:t>
            </a: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Implement Decision Logic</a:t>
            </a:r>
            <a:r>
              <a:rPr lang="en-US" altLang="en-US" sz="2000" dirty="0">
                <a:latin typeface="Times New Roman" panose="02020603050405020304" pitchFamily="18" charset="0"/>
                <a:cs typeface="Times New Roman" panose="02020603050405020304" pitchFamily="18" charset="0"/>
              </a:rPr>
              <a:t>: To use Natural Language Processing (NLP) techniques to build basic healthcare-related decision logic.</a:t>
            </a: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Expose Functionalities via API</a:t>
            </a:r>
            <a:r>
              <a:rPr lang="en-US" altLang="en-US" sz="2000" dirty="0">
                <a:latin typeface="Times New Roman" panose="02020603050405020304" pitchFamily="18" charset="0"/>
                <a:cs typeface="Times New Roman" panose="02020603050405020304" pitchFamily="18" charset="0"/>
              </a:rPr>
              <a:t>: To ensure the AI services are accessible through secure Application Programming Interfaces (APIs).</a:t>
            </a:r>
          </a:p>
          <a:p>
            <a:pPr marL="0" lvl="0" indent="0" eaLnBrk="0" fontAlgn="base" hangingPunct="0">
              <a:lnSpc>
                <a:spcPct val="10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Ensure System Quality</a:t>
            </a:r>
            <a:r>
              <a:rPr lang="en-US" altLang="en-US" sz="2000" dirty="0">
                <a:latin typeface="Times New Roman" panose="02020603050405020304" pitchFamily="18" charset="0"/>
                <a:cs typeface="Times New Roman" panose="02020603050405020304" pitchFamily="18" charset="0"/>
              </a:rPr>
              <a:t>: To focus on building a modular, scalable architecture that allows for easy future integration with other systems.</a:t>
            </a:r>
          </a:p>
          <a:p>
            <a:endParaRPr lang="en-US" sz="2000" dirty="0"/>
          </a:p>
        </p:txBody>
      </p:sp>
    </p:spTree>
    <p:extLst>
      <p:ext uri="{BB962C8B-B14F-4D97-AF65-F5344CB8AC3E}">
        <p14:creationId xmlns:p14="http://schemas.microsoft.com/office/powerpoint/2010/main" val="1089653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BC77B-8BE0-4EA3-8332-541929C6C917}"/>
              </a:ext>
            </a:extLst>
          </p:cNvPr>
          <p:cNvSpPr>
            <a:spLocks noGrp="1"/>
          </p:cNvSpPr>
          <p:nvPr>
            <p:ph type="title"/>
          </p:nvPr>
        </p:nvSpPr>
        <p:spPr>
          <a:xfrm>
            <a:off x="838200" y="898525"/>
            <a:ext cx="10515600" cy="1325563"/>
          </a:xfrm>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Tools &amp; Technologies</a:t>
            </a:r>
          </a:p>
        </p:txBody>
      </p:sp>
      <p:sp>
        <p:nvSpPr>
          <p:cNvPr id="3" name="Content Placeholder 2">
            <a:extLst>
              <a:ext uri="{FF2B5EF4-FFF2-40B4-BE49-F238E27FC236}">
                <a16:creationId xmlns:a16="http://schemas.microsoft.com/office/drawing/2014/main" id="{ED33E616-8DB3-4A2E-8942-DC29FEDACD6A}"/>
              </a:ext>
            </a:extLst>
          </p:cNvPr>
          <p:cNvSpPr>
            <a:spLocks noGrp="1"/>
          </p:cNvSpPr>
          <p:nvPr>
            <p:ph idx="1"/>
          </p:nvPr>
        </p:nvSpPr>
        <p:spPr>
          <a:xfrm>
            <a:off x="838200" y="2528358"/>
            <a:ext cx="10515600" cy="2898775"/>
          </a:xfrm>
        </p:spPr>
        <p:txBody>
          <a:bodyPr/>
          <a:lstStyle/>
          <a:p>
            <a:r>
              <a:rPr lang="en-US" sz="2000" dirty="0">
                <a:latin typeface="Times New Roman" panose="02020603050405020304" pitchFamily="18" charset="0"/>
                <a:cs typeface="Times New Roman" panose="02020603050405020304" pitchFamily="18" charset="0"/>
              </a:rPr>
              <a:t>Visual</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Studio</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Code</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main code editor.</a:t>
            </a:r>
          </a:p>
          <a:p>
            <a:r>
              <a:rPr lang="en-US" sz="2000" dirty="0">
                <a:latin typeface="Times New Roman" panose="02020603050405020304" pitchFamily="18" charset="0"/>
                <a:cs typeface="Times New Roman" panose="02020603050405020304" pitchFamily="18" charset="0"/>
              </a:rPr>
              <a:t>Language: Python</a:t>
            </a:r>
          </a:p>
          <a:p>
            <a:r>
              <a:rPr lang="en-US" sz="2000" dirty="0">
                <a:latin typeface="Times New Roman" panose="02020603050405020304" pitchFamily="18" charset="0"/>
                <a:cs typeface="Times New Roman" panose="02020603050405020304" pitchFamily="18" charset="0"/>
              </a:rPr>
              <a:t>Database: PostgreSQL</a:t>
            </a:r>
          </a:p>
          <a:p>
            <a:r>
              <a:rPr lang="en-US" sz="2000" dirty="0">
                <a:latin typeface="Times New Roman" panose="02020603050405020304" pitchFamily="18" charset="0"/>
                <a:cs typeface="Times New Roman" panose="02020603050405020304" pitchFamily="18" charset="0"/>
              </a:rPr>
              <a:t>Framework: </a:t>
            </a:r>
            <a:r>
              <a:rPr lang="en-US" sz="2000" dirty="0" err="1">
                <a:latin typeface="Times New Roman" panose="02020603050405020304" pitchFamily="18" charset="0"/>
                <a:cs typeface="Times New Roman" panose="02020603050405020304" pitchFamily="18" charset="0"/>
              </a:rPr>
              <a:t>LangChain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FastAPI</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LLM model: Nvidia nemotron-3-nano-30b-a3b</a:t>
            </a:r>
          </a:p>
          <a:p>
            <a:r>
              <a:rPr lang="en-US" sz="2000" dirty="0">
                <a:latin typeface="Times New Roman" panose="02020603050405020304" pitchFamily="18" charset="0"/>
                <a:cs typeface="Times New Roman" panose="02020603050405020304" pitchFamily="18" charset="0"/>
              </a:rPr>
              <a:t>GitHub - for version control and collaboration</a:t>
            </a:r>
          </a:p>
          <a:p>
            <a:endParaRPr lang="en-US" dirty="0"/>
          </a:p>
          <a:p>
            <a:pPr marL="0" indent="0">
              <a:buNone/>
            </a:pPr>
            <a:endParaRPr lang="en-US" dirty="0"/>
          </a:p>
        </p:txBody>
      </p:sp>
    </p:spTree>
    <p:extLst>
      <p:ext uri="{BB962C8B-B14F-4D97-AF65-F5344CB8AC3E}">
        <p14:creationId xmlns:p14="http://schemas.microsoft.com/office/powerpoint/2010/main" val="1895624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560B-7A4A-40BA-982D-A855B5B5EDEE}"/>
              </a:ext>
            </a:extLst>
          </p:cNvPr>
          <p:cNvSpPr>
            <a:spLocks noGrp="1"/>
          </p:cNvSpPr>
          <p:nvPr>
            <p:ph type="title"/>
          </p:nvPr>
        </p:nvSpPr>
        <p:spPr>
          <a:xfrm>
            <a:off x="838200" y="720725"/>
            <a:ext cx="10515600" cy="1325563"/>
          </a:xfrm>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Methodology</a:t>
            </a:r>
          </a:p>
        </p:txBody>
      </p:sp>
      <p:sp>
        <p:nvSpPr>
          <p:cNvPr id="7" name="Rectangle 2">
            <a:extLst>
              <a:ext uri="{FF2B5EF4-FFF2-40B4-BE49-F238E27FC236}">
                <a16:creationId xmlns:a16="http://schemas.microsoft.com/office/drawing/2014/main" id="{72870091-986F-1C4E-6352-486A875E61D2}"/>
              </a:ext>
            </a:extLst>
          </p:cNvPr>
          <p:cNvSpPr>
            <a:spLocks noGrp="1" noChangeArrowheads="1"/>
          </p:cNvSpPr>
          <p:nvPr>
            <p:ph idx="1"/>
          </p:nvPr>
        </p:nvSpPr>
        <p:spPr bwMode="auto">
          <a:xfrm>
            <a:off x="333375" y="2181394"/>
            <a:ext cx="1152525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the development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Buddy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Agile Methodology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has been selected as the primary framework. This approach was chosen specifically because the project requirements are not fully defined at the outset and are expected to evolve frequently during development.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Agile?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Iterative Cycles: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is broken down into small, iterative cycles called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sprints allows for quick testing and feedback, which significantly reduces overall time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Flexibility: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prioritizes responding to change over following a rigid, pre-defined plan.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methodology emphasizes continuous delivery and collaboration to ensure a working solution is developed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6728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2FEF-17C1-4C90-A39D-F51132EB899D}"/>
              </a:ext>
            </a:extLst>
          </p:cNvPr>
          <p:cNvSpPr>
            <a:spLocks noGrp="1"/>
          </p:cNvSpPr>
          <p:nvPr>
            <p:ph type="title"/>
          </p:nvPr>
        </p:nvSpPr>
        <p:spPr>
          <a:xfrm>
            <a:off x="838200" y="517525"/>
            <a:ext cx="10515600" cy="1325563"/>
          </a:xfrm>
        </p:spPr>
        <p:txBody>
          <a:bodyPr/>
          <a:lstStyle/>
          <a:p>
            <a:pPr algn="ct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Expected Output</a:t>
            </a:r>
          </a:p>
        </p:txBody>
      </p:sp>
      <p:sp>
        <p:nvSpPr>
          <p:cNvPr id="6" name="Rectangle 2">
            <a:extLst>
              <a:ext uri="{FF2B5EF4-FFF2-40B4-BE49-F238E27FC236}">
                <a16:creationId xmlns:a16="http://schemas.microsoft.com/office/drawing/2014/main" id="{A9CB5408-70B3-C370-5963-25A43D52DDE1}"/>
              </a:ext>
            </a:extLst>
          </p:cNvPr>
          <p:cNvSpPr>
            <a:spLocks noGrp="1" noChangeArrowheads="1"/>
          </p:cNvSpPr>
          <p:nvPr>
            <p:ph idx="1"/>
          </p:nvPr>
        </p:nvSpPr>
        <p:spPr bwMode="auto">
          <a:xfrm>
            <a:off x="971550" y="2328436"/>
            <a:ext cx="102489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Deliverable: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modular, API-driven agent that simplifies healthcare triage.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Democratization of AI medical guidance through accessible, command-based interactions.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Note: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 Buddy saves resources for developers by providing a robust intelligence layer without frontend constraints</a:t>
            </a:r>
          </a:p>
        </p:txBody>
      </p:sp>
    </p:spTree>
    <p:extLst>
      <p:ext uri="{BB962C8B-B14F-4D97-AF65-F5344CB8AC3E}">
        <p14:creationId xmlns:p14="http://schemas.microsoft.com/office/powerpoint/2010/main" val="2295583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6710-5935-48E6-959F-57CBB7431729}"/>
              </a:ext>
            </a:extLst>
          </p:cNvPr>
          <p:cNvSpPr>
            <a:spLocks noGrp="1"/>
          </p:cNvSpPr>
          <p:nvPr>
            <p:ph type="title"/>
          </p:nvPr>
        </p:nvSpPr>
        <p:spPr>
          <a:xfrm>
            <a:off x="838200" y="763059"/>
            <a:ext cx="10515600" cy="1325563"/>
          </a:xfrm>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Scope</a:t>
            </a:r>
          </a:p>
        </p:txBody>
      </p:sp>
      <p:sp>
        <p:nvSpPr>
          <p:cNvPr id="8" name="Rectangle 4">
            <a:extLst>
              <a:ext uri="{FF2B5EF4-FFF2-40B4-BE49-F238E27FC236}">
                <a16:creationId xmlns:a16="http://schemas.microsoft.com/office/drawing/2014/main" id="{008CB635-BF99-54C4-8312-5E3FD41DE078}"/>
              </a:ext>
            </a:extLst>
          </p:cNvPr>
          <p:cNvSpPr>
            <a:spLocks noGrp="1" noChangeArrowheads="1"/>
          </p:cNvSpPr>
          <p:nvPr>
            <p:ph idx="1"/>
          </p:nvPr>
        </p:nvSpPr>
        <p:spPr bwMode="auto">
          <a:xfrm>
            <a:off x="838200" y="1800692"/>
            <a:ext cx="10515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Frontend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Development of dedicated web dashboards or mobile applications to make the service accessible to non-technical end-users.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Visualization: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Implementation of graphical tools to visualize health trends and decision-support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Technical Enhancements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Third-Party Integration: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Seamless connection with Hospital Information Systems (HIS) and Electronic Health Records (EHR).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AI Models: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Integration of more complex Large Language Models (LLMs) and advanced machine learning algorithms to improve decision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Expanding the modular architecture to support a higher volume of concurrent API requests and larger datasets.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49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36B34-9F41-4B78-862E-3FE4FD107952}"/>
              </a:ext>
            </a:extLst>
          </p:cNvPr>
          <p:cNvSpPr>
            <a:spLocks noGrp="1"/>
          </p:cNvSpPr>
          <p:nvPr>
            <p:ph type="title"/>
          </p:nvPr>
        </p:nvSpPr>
        <p:spPr>
          <a:xfrm>
            <a:off x="0" y="0"/>
            <a:ext cx="12192000" cy="6858000"/>
          </a:xfrm>
        </p:spPr>
        <p:txBody>
          <a:bodyPr>
            <a:normAutofit/>
          </a:bodyPr>
          <a:lstStyle/>
          <a:p>
            <a:pPr algn="ctr"/>
            <a:r>
              <a:rPr lang="en-US" sz="9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a:t>
            </a:r>
            <a:br>
              <a:rPr lang="en-US" sz="9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9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you!</a:t>
            </a:r>
          </a:p>
        </p:txBody>
      </p:sp>
    </p:spTree>
    <p:extLst>
      <p:ext uri="{BB962C8B-B14F-4D97-AF65-F5344CB8AC3E}">
        <p14:creationId xmlns:p14="http://schemas.microsoft.com/office/powerpoint/2010/main" val="3816931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656</Words>
  <Application>Microsoft Office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HealthBuddy</vt:lpstr>
      <vt:lpstr>Introduction</vt:lpstr>
      <vt:lpstr>Problem &amp; Solution</vt:lpstr>
      <vt:lpstr>SCOPE OF THE PROJECT </vt:lpstr>
      <vt:lpstr>Objective</vt:lpstr>
      <vt:lpstr>Tools &amp; Technologies</vt:lpstr>
      <vt:lpstr>Methodology</vt:lpstr>
      <vt:lpstr>Expected Output</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 SHOPPING WEB APPLICATION</dc:title>
  <dc:creator>Roman Dangol</dc:creator>
  <cp:lastModifiedBy>Samrat Shrestha</cp:lastModifiedBy>
  <cp:revision>4</cp:revision>
  <dcterms:created xsi:type="dcterms:W3CDTF">2025-06-11T09:30:41Z</dcterms:created>
  <dcterms:modified xsi:type="dcterms:W3CDTF">2025-12-20T16:04:18Z</dcterms:modified>
</cp:coreProperties>
</file>